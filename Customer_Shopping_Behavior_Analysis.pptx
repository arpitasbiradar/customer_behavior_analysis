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 Condensed ExtraBold"/>
      <p:regular r:id="rId201314"/>
    </p:embeddedFont>
    <p:embeddedFont>
      <p:font typeface="IBM Plex Sans"/>
      <p:regular r:id="rId201315"/>
    </p:embeddedFont>
    <p:embeddedFont>
      <p:font typeface="IBM Plex Sans Bold"/>
      <p:regular r:id="rId201316"/>
    </p:embeddedFont>
    <p:embeddedFont>
      <p:font typeface="JetBrains Mono"/>
      <p:regular r:id="rId201317"/>
    </p:embeddedFont>
    <p:embeddedFont>
      <p:font typeface="JetBrains Mono Medium"/>
      <p:regular r:id="rId201318"/>
    </p:embeddedFont>
    <p:embeddedFont>
      <p:font typeface="JetBrains Mono SemiBold"/>
      <p:regular r:id="rId201319"/>
    </p:embeddedFont>
    <p:embeddedFont>
      <p:font typeface="JetBrains Mono 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839" y="2270720"/>
            <a:ext cx="8889778" cy="3083223"/>
          </a:xfrm>
          <a:prstGeom prst="rect">
            <a:avLst/>
          </a:prstGeom>
          <a:solidFill>
            <a:srgbClr val="17111F"/>
          </a:solidFill>
          <a:ln/>
        </p:spPr>
      </p:sp>
      <p:sp>
        <p:nvSpPr>
          <p:cNvPr id="3" name="Shape 1"/>
          <p:cNvSpPr/>
          <p:nvPr/>
        </p:nvSpPr>
        <p:spPr>
          <a:xfrm>
            <a:off x="844430" y="2623145"/>
            <a:ext cx="2044649" cy="57150"/>
          </a:xfrm>
          <a:prstGeom prst="roundRect">
            <a:avLst>
              <a:gd name="adj" fmla="val 49999"/>
            </a:avLst>
          </a:prstGeom>
          <a:solidFill>
            <a:srgbClr val="C8F23C"/>
          </a:solidFill>
          <a:ln/>
        </p:spPr>
      </p:sp>
      <p:sp>
        <p:nvSpPr>
          <p:cNvPr id="4" name="Text 2"/>
          <p:cNvSpPr/>
          <p:nvPr/>
        </p:nvSpPr>
        <p:spPr>
          <a:xfrm>
            <a:off x="844430" y="3136731"/>
            <a:ext cx="8178595" cy="1572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7200" spc="-72" kern="100" dirty="0">
                <a:solidFill>
                  <a:srgbClr val="FFFFFF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CUSTOMER SHOPPING BEHAVIOR ANALYSIS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44430" y="4709478"/>
            <a:ext cx="878818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Uncovering insights from 3,900 purchases to guide strategic business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28942"/>
            <a:ext cx="6217784" cy="159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F2EEF6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3,900 PURCHASES REVEAL A BROAD BUT UNDER-SUBSCRIBED CUSTOMER BASE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2198886"/>
            <a:ext cx="2021730" cy="3428603"/>
          </a:xfrm>
          <a:prstGeom prst="rect">
            <a:avLst/>
          </a:prstGeom>
          <a:solidFill>
            <a:srgbClr val="221A2D"/>
          </a:solidFill>
          <a:ln/>
        </p:spPr>
      </p:sp>
      <p:sp>
        <p:nvSpPr>
          <p:cNvPr id="4" name="Text 2"/>
          <p:cNvSpPr/>
          <p:nvPr/>
        </p:nvSpPr>
        <p:spPr>
          <a:xfrm>
            <a:off x="685783" y="2434471"/>
            <a:ext cx="179313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D0C9DA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TRANSACTIONS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783" y="2786856"/>
            <a:ext cx="1564541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68" kern="100" dirty="0">
                <a:solidFill>
                  <a:srgbClr val="D0C9D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3,900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783" y="3327559"/>
            <a:ext cx="1564541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Across 4 product categories and 50 locations.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55117" y="2198886"/>
            <a:ext cx="2021829" cy="3428603"/>
          </a:xfrm>
          <a:prstGeom prst="rect">
            <a:avLst/>
          </a:prstGeom>
          <a:solidFill>
            <a:srgbClr val="221A2D"/>
          </a:solidFill>
          <a:ln/>
        </p:spPr>
      </p:sp>
      <p:sp>
        <p:nvSpPr>
          <p:cNvPr id="8" name="Text 6"/>
          <p:cNvSpPr/>
          <p:nvPr/>
        </p:nvSpPr>
        <p:spPr>
          <a:xfrm>
            <a:off x="2783711" y="2434471"/>
            <a:ext cx="1793235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D0C9DA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AVERAGE PURCHASE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3711" y="2786856"/>
            <a:ext cx="1564641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68" kern="100" dirty="0">
                <a:solidFill>
                  <a:srgbClr val="D0C9D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$59.76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783711" y="3327559"/>
            <a:ext cx="179323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Typical basket size.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53144" y="2198886"/>
            <a:ext cx="2021730" cy="3428603"/>
          </a:xfrm>
          <a:prstGeom prst="rect">
            <a:avLst/>
          </a:prstGeom>
          <a:solidFill>
            <a:srgbClr val="221A2D"/>
          </a:solidFill>
          <a:ln/>
        </p:spPr>
      </p:sp>
      <p:sp>
        <p:nvSpPr>
          <p:cNvPr id="12" name="Text 10"/>
          <p:cNvSpPr/>
          <p:nvPr/>
        </p:nvSpPr>
        <p:spPr>
          <a:xfrm>
            <a:off x="4881738" y="2434471"/>
            <a:ext cx="179313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D0C9DA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AVERAGE REVIEW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81738" y="2786856"/>
            <a:ext cx="1564541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68" kern="100" dirty="0">
                <a:solidFill>
                  <a:srgbClr val="D0C9D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3.75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881738" y="3327559"/>
            <a:ext cx="1564541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Customer experience rating.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189" y="5766554"/>
            <a:ext cx="621778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The base is broad enough to support retention growth. The next question is how to convert reach into repeat behavior.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94043" y="2797969"/>
            <a:ext cx="4297652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66" kern="100" dirty="0">
                <a:solidFill>
                  <a:srgbClr val="A197A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BASELINE READ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94043" y="3071812"/>
            <a:ext cx="3840463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000" dirty="0">
                <a:solidFill>
                  <a:srgbClr val="F2EEF6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REACH IS ALREADY THERE.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894043" y="3540125"/>
            <a:ext cx="384046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Subscription and repeat purchase are the open opportunities.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57733" y="6540500"/>
            <a:ext cx="33396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051943"/>
            <a:ext cx="658359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66" kern="100" dirty="0">
                <a:solidFill>
                  <a:srgbClr val="A197A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SUBSCRIPTION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2349904"/>
            <a:ext cx="6126406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F2EEF6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SUBSCRIPTION IS THE CLEAREST GROWTH GAP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3494742"/>
            <a:ext cx="612640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Only 1,053 customers subscribe versus 2,847 non-subscribers.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189" y="4309963"/>
            <a:ext cx="1531502" cy="57150"/>
          </a:xfrm>
          <a:prstGeom prst="roundRect">
            <a:avLst>
              <a:gd name="adj" fmla="val 49999"/>
            </a:avLst>
          </a:prstGeom>
          <a:solidFill>
            <a:srgbClr val="C8F23C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4552851"/>
            <a:ext cx="65835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Make subscription value visible at the moment of purchase.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061" y="1640582"/>
            <a:ext cx="3779445" cy="33348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50269" y="5042733"/>
            <a:ext cx="438903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A197AE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27% SUBSCRIBED · 73% NOT SUBSCRIBED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57733" y="6540500"/>
            <a:ext cx="33396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28942"/>
            <a:ext cx="6908627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F2EEF6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SUBSCRIBERS ARE NOT SPENDING MORE TODAY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189" y="1967845"/>
            <a:ext cx="736581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A197AE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AVERAGE SPEND IS NEARLY IDENTICAL; SCALE STILL SITS WITH NON-SUBSCRIBERS.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275780"/>
            <a:ext cx="6603835" cy="368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37381" y="2483644"/>
            <a:ext cx="3454314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66" kern="100" dirty="0">
                <a:solidFill>
                  <a:srgbClr val="A197A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IMPLICATION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737381" y="2757487"/>
            <a:ext cx="299712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000" dirty="0">
                <a:solidFill>
                  <a:srgbClr val="F2EEF6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DISCOUNT ALONE IS NOT THE ANSWER.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737381" y="3587750"/>
            <a:ext cx="29971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Subscription strategy needs a frequency or retention benefit, not only a discount.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57733" y="6540500"/>
            <a:ext cx="33396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864023"/>
            <a:ext cx="4236634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66" kern="100" dirty="0">
                <a:solidFill>
                  <a:srgbClr val="A197A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LOYALTY 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2161983"/>
            <a:ext cx="3779445" cy="212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F2EEF6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LOYAL CUSTOMERS ARE THE FOUNDATION TO ACTIVATE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4368463"/>
            <a:ext cx="377944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Repeat behavior already dominates the customer base.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608100" y="457200"/>
            <a:ext cx="6126406" cy="2547045"/>
          </a:xfrm>
          <a:prstGeom prst="rect">
            <a:avLst/>
          </a:prstGeom>
          <a:solidFill>
            <a:srgbClr val="221A2D"/>
          </a:solidFill>
          <a:ln/>
        </p:spPr>
      </p:sp>
      <p:sp>
        <p:nvSpPr>
          <p:cNvPr id="6" name="Text 4"/>
          <p:cNvSpPr/>
          <p:nvPr/>
        </p:nvSpPr>
        <p:spPr>
          <a:xfrm>
            <a:off x="5836695" y="692785"/>
            <a:ext cx="589781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D0C9DA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LOYAL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36695" y="1061045"/>
            <a:ext cx="5669218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88" kern="100" dirty="0">
                <a:solidFill>
                  <a:srgbClr val="D0C9D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3,116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836695" y="1713508"/>
            <a:ext cx="589781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Customers already showing the strongest relationship.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08100" y="3080445"/>
            <a:ext cx="3025104" cy="2547045"/>
          </a:xfrm>
          <a:prstGeom prst="rect">
            <a:avLst/>
          </a:prstGeom>
          <a:solidFill>
            <a:srgbClr val="221A2D"/>
          </a:solidFill>
          <a:ln/>
        </p:spPr>
      </p:sp>
      <p:sp>
        <p:nvSpPr>
          <p:cNvPr id="10" name="Text 8"/>
          <p:cNvSpPr/>
          <p:nvPr/>
        </p:nvSpPr>
        <p:spPr>
          <a:xfrm>
            <a:off x="5836695" y="3316029"/>
            <a:ext cx="27965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D0C9DA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RETURNING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36695" y="3666827"/>
            <a:ext cx="256791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spc="-60" kern="100" dirty="0">
                <a:solidFill>
                  <a:srgbClr val="D0C9D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701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836695" y="4158317"/>
            <a:ext cx="27965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Customers to deepen.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09402" y="3080445"/>
            <a:ext cx="3025104" cy="2547045"/>
          </a:xfrm>
          <a:prstGeom prst="rect">
            <a:avLst/>
          </a:prstGeom>
          <a:solidFill>
            <a:srgbClr val="221A2D"/>
          </a:solidFill>
          <a:ln/>
        </p:spPr>
      </p:sp>
      <p:sp>
        <p:nvSpPr>
          <p:cNvPr id="14" name="Text 12"/>
          <p:cNvSpPr/>
          <p:nvPr/>
        </p:nvSpPr>
        <p:spPr>
          <a:xfrm>
            <a:off x="8937997" y="3316029"/>
            <a:ext cx="27965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D0C9DA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NEW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37997" y="3666827"/>
            <a:ext cx="256791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spc="-60" kern="100" dirty="0">
                <a:solidFill>
                  <a:srgbClr val="D0C9D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83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937997" y="4158317"/>
            <a:ext cx="27965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Customers to develop.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08100" y="5766554"/>
            <a:ext cx="612640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Convert repeat behavior into membership, referrals, or tailored offers.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57733" y="6540500"/>
            <a:ext cx="33396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28942"/>
            <a:ext cx="5410065" cy="159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F2EEF6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CLOTHING LEADS CATEGORY DEMAND AND REVENUE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189" y="2205871"/>
            <a:ext cx="541006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A197AE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THE DASHBOARD PUTS CLOTHING FIRST IN BOTH SALES AND REVENUE VIEWS.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2647752"/>
          <a:ext cx="5410065" cy="914400"/>
        </p:xfrm>
        <a:graphic>
          <a:graphicData uri="http://schemas.openxmlformats.org/drawingml/2006/table">
            <a:tbl>
              <a:tblPr/>
              <a:tblGrid>
                <a:gridCol w="3137814"/>
                <a:gridCol w="2272251"/>
              </a:tblGrid>
              <a:tr h="425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EEF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Category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0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EEF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Demand signal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0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0C9D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Clothing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0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0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0C9D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Highest category in dashboard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0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0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0C9D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Accessories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0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0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0C9D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Second tier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0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0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0C9D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Footwear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0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0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0C9D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Third tier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0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0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0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0C9D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Outerwear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0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0C9D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Fourth tier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0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24442" y="1638002"/>
            <a:ext cx="541006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66" kern="100" dirty="0">
                <a:solidFill>
                  <a:srgbClr val="A197A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TOP CLOTHING PRODUCTS BY ORDERS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324442" y="2175371"/>
            <a:ext cx="1701757" cy="1068685"/>
          </a:xfrm>
          <a:prstGeom prst="roundRect">
            <a:avLst>
              <a:gd name="adj" fmla="val 2674"/>
            </a:avLst>
          </a:prstGeom>
          <a:solidFill>
            <a:srgbClr val="36303E"/>
          </a:solidFill>
          <a:ln/>
        </p:spPr>
      </p:sp>
      <p:sp>
        <p:nvSpPr>
          <p:cNvPr id="7" name="Text 4"/>
          <p:cNvSpPr/>
          <p:nvPr/>
        </p:nvSpPr>
        <p:spPr>
          <a:xfrm>
            <a:off x="6553036" y="2698770"/>
            <a:ext cx="1244569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dirty="0">
                <a:solidFill>
                  <a:srgbClr val="F2EEF6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Blouse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178595" y="2175371"/>
            <a:ext cx="1701757" cy="1068685"/>
          </a:xfrm>
          <a:prstGeom prst="roundRect">
            <a:avLst>
              <a:gd name="adj" fmla="val 2674"/>
            </a:avLst>
          </a:prstGeom>
          <a:solidFill>
            <a:srgbClr val="36303E"/>
          </a:solidFill>
          <a:ln/>
        </p:spPr>
      </p:sp>
      <p:sp>
        <p:nvSpPr>
          <p:cNvPr id="9" name="Text 6"/>
          <p:cNvSpPr/>
          <p:nvPr/>
        </p:nvSpPr>
        <p:spPr>
          <a:xfrm>
            <a:off x="8407190" y="2698770"/>
            <a:ext cx="1244569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dirty="0">
                <a:solidFill>
                  <a:srgbClr val="F2EEF6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Pants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0032749" y="2175371"/>
            <a:ext cx="1701757" cy="1068685"/>
          </a:xfrm>
          <a:prstGeom prst="roundRect">
            <a:avLst>
              <a:gd name="adj" fmla="val 2674"/>
            </a:avLst>
          </a:prstGeom>
          <a:solidFill>
            <a:srgbClr val="36303E"/>
          </a:solidFill>
          <a:ln/>
        </p:spPr>
      </p:sp>
      <p:sp>
        <p:nvSpPr>
          <p:cNvPr id="11" name="Text 8"/>
          <p:cNvSpPr/>
          <p:nvPr/>
        </p:nvSpPr>
        <p:spPr>
          <a:xfrm>
            <a:off x="10261343" y="2698770"/>
            <a:ext cx="1244569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dirty="0">
                <a:solidFill>
                  <a:srgbClr val="F2EEF6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Shirt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324442" y="3334544"/>
            <a:ext cx="54100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Use clothing as the anchor for bundles and subscription benefits.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857733" y="6540500"/>
            <a:ext cx="33396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06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889578" y="1889621"/>
            <a:ext cx="571486" cy="571500"/>
          </a:xfrm>
          <a:prstGeom prst="ellipse">
            <a:avLst/>
          </a:prstGeom>
          <a:solidFill>
            <a:srgbClr val="C8F23C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2449" y="2032496"/>
            <a:ext cx="285743" cy="28575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743731" y="1889621"/>
            <a:ext cx="571486" cy="571500"/>
          </a:xfrm>
          <a:prstGeom prst="ellipse">
            <a:avLst/>
          </a:prstGeom>
          <a:solidFill>
            <a:srgbClr val="C8F23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6603" y="2032496"/>
            <a:ext cx="285743" cy="28575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0597885" y="1889621"/>
            <a:ext cx="571486" cy="571500"/>
          </a:xfrm>
          <a:prstGeom prst="ellipse">
            <a:avLst/>
          </a:prstGeom>
          <a:solidFill>
            <a:srgbClr val="C8F23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0756" y="2032496"/>
            <a:ext cx="285743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929408"/>
            <a:ext cx="619238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66" kern="100" dirty="0">
                <a:solidFill>
                  <a:srgbClr val="A197A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DISCOUNT SIGNAL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2227368"/>
            <a:ext cx="5735196" cy="159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F2EEF6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DISCOUNTS CAN DRIVE VOLUME WITHOUT BUILDING LOYALTY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3903027"/>
            <a:ext cx="573519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839 customers used a discount and still spent above the average purchase amount.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189" y="4675386"/>
            <a:ext cx="619238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Test targeted offers against blanket discounting.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06663" y="0"/>
            <a:ext cx="5085032" cy="3390900"/>
          </a:xfrm>
          <a:prstGeom prst="rect">
            <a:avLst/>
          </a:prstGeom>
          <a:solidFill>
            <a:srgbClr val="221A2D"/>
          </a:solidFill>
          <a:ln/>
        </p:spPr>
      </p:sp>
      <p:sp>
        <p:nvSpPr>
          <p:cNvPr id="7" name="Text 5"/>
          <p:cNvSpPr/>
          <p:nvPr/>
        </p:nvSpPr>
        <p:spPr>
          <a:xfrm>
            <a:off x="7563851" y="464185"/>
            <a:ext cx="462784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D0C9DA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HIGHEST DISCOUNTED-PURCHASE RATES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63851" y="953095"/>
            <a:ext cx="4170655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88" kern="100" dirty="0">
                <a:solidFill>
                  <a:srgbClr val="D0C9D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47.37–50.00%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563851" y="1605558"/>
            <a:ext cx="462784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Hat · Sneakers · Coat · Sweater · Pants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06663" y="3467100"/>
            <a:ext cx="5085032" cy="3390900"/>
          </a:xfrm>
          <a:prstGeom prst="rect">
            <a:avLst/>
          </a:prstGeom>
          <a:solidFill>
            <a:srgbClr val="221A2D"/>
          </a:solidFill>
          <a:ln/>
        </p:spPr>
      </p:sp>
      <p:sp>
        <p:nvSpPr>
          <p:cNvPr id="11" name="Text 9"/>
          <p:cNvSpPr/>
          <p:nvPr/>
        </p:nvSpPr>
        <p:spPr>
          <a:xfrm>
            <a:off x="7563851" y="3931285"/>
            <a:ext cx="462784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D0C9DA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ABOVE-AVERAGE SPENDERS USING A DISCOUNT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3851" y="4420195"/>
            <a:ext cx="4170655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88" kern="100" dirty="0">
                <a:solidFill>
                  <a:srgbClr val="D0C9D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839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563851" y="5072658"/>
            <a:ext cx="417065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Volume exists. Loyalty still needs a separate mechanism.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57733" y="6540500"/>
            <a:ext cx="33396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28942"/>
            <a:ext cx="7299837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F2EEF6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YOUNG ADULTS CONTRIBUTE THE MOST REVENUE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189" y="1675051"/>
            <a:ext cx="729983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A197AE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THE SPREAD IS NARROW, BUT YOUNG ADULT LEADS BOTH REVENUE AND SALES IN THE DASHBOARD VIEW.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164556"/>
            <a:ext cx="7111822" cy="39386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28492" y="2483644"/>
            <a:ext cx="306320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66" kern="100" dirty="0">
                <a:solidFill>
                  <a:srgbClr val="A197A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PRIORITY SEGMENT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128492" y="2757487"/>
            <a:ext cx="2606014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000" dirty="0">
                <a:solidFill>
                  <a:srgbClr val="F2EEF6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START WITH YOUNG ADULT.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128492" y="3587750"/>
            <a:ext cx="260601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Prioritize this segment in acquisition and repeat-purchase journeys.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57733" y="6540500"/>
            <a:ext cx="33396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783953"/>
            <a:ext cx="4236634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66" kern="100" dirty="0">
                <a:solidFill>
                  <a:srgbClr val="A197A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OFFER SUPPORT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2081914"/>
            <a:ext cx="3779445" cy="212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F2EEF6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PRODUCT QUALITY AND CONVENIENCE CAN SUPPORT THE OFFER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4287441"/>
            <a:ext cx="377944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Trusted products and express shipping give membership benefits something concrete to improve.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150912" y="0"/>
            <a:ext cx="7040783" cy="2052241"/>
          </a:xfrm>
          <a:prstGeom prst="rect">
            <a:avLst/>
          </a:prstGeom>
          <a:noFill/>
          <a:ln w="25399">
            <a:solidFill>
              <a:srgbClr val="4F49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33500" y="489585"/>
            <a:ext cx="6558195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A197AE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TOP-RATED PRODUCTS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33500" y="927219"/>
            <a:ext cx="6075607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dirty="0">
                <a:solidFill>
                  <a:srgbClr val="F2EEF6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Gloves 3.86 · Sandals 3.84 · Boots 3.82 · Hat 3.80 · Skirt 3.78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150912" y="2357041"/>
            <a:ext cx="7040783" cy="2052241"/>
          </a:xfrm>
          <a:prstGeom prst="rect">
            <a:avLst/>
          </a:prstGeom>
          <a:noFill/>
          <a:ln w="25399">
            <a:solidFill>
              <a:srgbClr val="4F49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33500" y="2846626"/>
            <a:ext cx="6558195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A197AE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SHIPPING SIGNAL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33500" y="3284260"/>
            <a:ext cx="6075607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dirty="0">
                <a:solidFill>
                  <a:srgbClr val="F2EEF6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Express shipping averages $60.48 versus $58.46 for Standard shipping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150912" y="4714081"/>
            <a:ext cx="7040783" cy="1920081"/>
          </a:xfrm>
          <a:prstGeom prst="rect">
            <a:avLst/>
          </a:prstGeom>
          <a:noFill/>
          <a:ln w="25399">
            <a:solidFill>
              <a:srgbClr val="4F49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33500" y="5203666"/>
            <a:ext cx="6558195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A197AE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ACTION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33500" y="5517317"/>
            <a:ext cx="607560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Pair trusted products with convenience-led membership benefits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57733" y="6540500"/>
            <a:ext cx="33396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0C9D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914400"/>
            <a:ext cx="8254793" cy="4853186"/>
          </a:xfrm>
          <a:prstGeom prst="rect">
            <a:avLst/>
          </a:prstGeom>
          <a:solidFill>
            <a:srgbClr val="17111F"/>
          </a:solidFill>
          <a:ln/>
        </p:spPr>
      </p:sp>
      <p:sp>
        <p:nvSpPr>
          <p:cNvPr id="3" name="Shape 1"/>
          <p:cNvSpPr/>
          <p:nvPr/>
        </p:nvSpPr>
        <p:spPr>
          <a:xfrm>
            <a:off x="939776" y="1241425"/>
            <a:ext cx="1898503" cy="57150"/>
          </a:xfrm>
          <a:prstGeom prst="roundRect">
            <a:avLst>
              <a:gd name="adj" fmla="val 49999"/>
            </a:avLst>
          </a:prstGeom>
          <a:solidFill>
            <a:srgbClr val="C8F23C"/>
          </a:solidFill>
          <a:ln/>
        </p:spPr>
      </p:sp>
      <p:sp>
        <p:nvSpPr>
          <p:cNvPr id="4" name="Text 2"/>
          <p:cNvSpPr/>
          <p:nvPr/>
        </p:nvSpPr>
        <p:spPr>
          <a:xfrm>
            <a:off x="939776" y="1682882"/>
            <a:ext cx="7594410" cy="830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3800" spc="-38" kern="100" dirty="0">
                <a:solidFill>
                  <a:srgbClr val="FFFFFF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THREE MOVES CAN TURN BEHAVIOR INTO GROWTH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39776" y="2598837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C8F23C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95368" y="2588538"/>
            <a:ext cx="7238819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Grow subscriptions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95368" y="3017302"/>
            <a:ext cx="723881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Attach clear benefits to the strongest repeat-purchase moments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9776" y="3720802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C8F23C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95368" y="3710503"/>
            <a:ext cx="7238819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Reward loyalty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95368" y="4139267"/>
            <a:ext cx="723881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Create differentiated offers for the 3,116-customer loyal segment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9776" y="4842768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C8F23C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95368" y="4832469"/>
            <a:ext cx="7238819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Protect margin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95368" y="5261233"/>
            <a:ext cx="723881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Target discounts where they change behavior, then measure repeat rate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9776" y="3466505"/>
            <a:ext cx="7594410" cy="12700"/>
          </a:xfrm>
          <a:prstGeom prst="rect">
            <a:avLst/>
          </a:prstGeom>
          <a:solidFill>
            <a:srgbClr val="C8F23C"/>
          </a:solidFill>
          <a:ln/>
        </p:spPr>
      </p:sp>
      <p:sp>
        <p:nvSpPr>
          <p:cNvPr id="15" name="Shape 13"/>
          <p:cNvSpPr/>
          <p:nvPr/>
        </p:nvSpPr>
        <p:spPr>
          <a:xfrm>
            <a:off x="939776" y="4588470"/>
            <a:ext cx="7594410" cy="12700"/>
          </a:xfrm>
          <a:prstGeom prst="rect">
            <a:avLst/>
          </a:prstGeom>
          <a:solidFill>
            <a:srgbClr val="C8F23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2026-10-22T20:25:19Z</dcterms:created>
  <dcterms:modified xsi:type="dcterms:W3CDTF">2026-10-22T20:25:19Z</dcterms:modified>
</cp:coreProperties>
</file>